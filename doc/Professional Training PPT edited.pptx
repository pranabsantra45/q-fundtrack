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handoutMasterIdLst>
    <p:handoutMasterId r:id="rId14"/>
  </p:handoutMasterIdLst>
  <p:sldIdLst>
    <p:sldId id="275" r:id="rId2"/>
    <p:sldId id="388" r:id="rId3"/>
    <p:sldId id="390" r:id="rId4"/>
    <p:sldId id="391" r:id="rId5"/>
    <p:sldId id="392" r:id="rId6"/>
    <p:sldId id="393" r:id="rId7"/>
    <p:sldId id="394" r:id="rId8"/>
    <p:sldId id="395" r:id="rId9"/>
    <p:sldId id="396" r:id="rId10"/>
    <p:sldId id="366" r:id="rId11"/>
    <p:sldId id="30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p:cViewPr varScale="1">
        <p:scale>
          <a:sx n="78" d="100"/>
          <a:sy n="78" d="100"/>
        </p:scale>
        <p:origin x="185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9/21/2026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9/21/2026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10</a:t>
            </a:fld>
            <a:endParaRPr lang="en-US"/>
          </a:p>
        </p:txBody>
      </p:sp>
    </p:spTree>
    <p:extLst>
      <p:ext uri="{BB962C8B-B14F-4D97-AF65-F5344CB8AC3E}">
        <p14:creationId xmlns:p14="http://schemas.microsoft.com/office/powerpoint/2010/main" val="20150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21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21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21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21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21 September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21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21 September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21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21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21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21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21 September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21 September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990601" y="3512438"/>
            <a:ext cx="7353300" cy="1056138"/>
          </a:xfrm>
        </p:spPr>
        <p:txBody>
          <a:bodyPr>
            <a:normAutofit fontScale="77500" lnSpcReduction="20000"/>
          </a:bodyPr>
          <a:lstStyle/>
          <a:p>
            <a:pPr>
              <a:lnSpc>
                <a:spcPct val="170000"/>
              </a:lnSpc>
            </a:pPr>
            <a:r>
              <a:rPr lang="en-US" sz="2400" b="1" dirty="0">
                <a:solidFill>
                  <a:schemeClr val="tx1"/>
                </a:solidFill>
                <a:latin typeface="Arial" pitchFamily="34" charset="0"/>
                <a:cs typeface="Arial" pitchFamily="34" charset="0"/>
              </a:rPr>
              <a:t>Donation and Campaign Tracker</a:t>
            </a:r>
          </a:p>
          <a:p>
            <a:pPr>
              <a:lnSpc>
                <a:spcPct val="170000"/>
              </a:lnSpc>
            </a:pPr>
            <a:r>
              <a:rPr lang="en-IN" sz="2400" b="1" dirty="0"/>
              <a:t>Q-</a:t>
            </a:r>
            <a:r>
              <a:rPr lang="en-IN" sz="2400" b="1" dirty="0" err="1"/>
              <a:t>FundTrack</a:t>
            </a:r>
            <a:r>
              <a:rPr lang="en-IN" sz="2400" b="1" dirty="0"/>
              <a:t>: </a:t>
            </a:r>
            <a:r>
              <a:rPr lang="en-IN" sz="2400" dirty="0"/>
              <a:t>Cloud-Based Donation and Campaign Management System</a:t>
            </a:r>
            <a:endParaRPr lang="en-US" sz="2400" b="1" dirty="0">
              <a:solidFill>
                <a:schemeClr val="tx1"/>
              </a:solidFill>
              <a:latin typeface="Arial" pitchFamily="34" charset="0"/>
              <a:cs typeface="Arial" pitchFamily="34"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21 September 2026</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19202" y="2052900"/>
            <a:ext cx="8610599" cy="1292662"/>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b="1" dirty="0"/>
              <a:t>Professional Training I</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GUIDE</a:t>
            </a:r>
          </a:p>
          <a:p>
            <a:pPr algn="l"/>
            <a:r>
              <a:rPr lang="en-US" sz="2000" b="1" dirty="0">
                <a:solidFill>
                  <a:schemeClr val="tx1"/>
                </a:solidFill>
              </a:rPr>
              <a:t>Pranab kr. Santra, reg # 44111130  		              Ms. Kalaivani A, M.E 		   		   	          Associate Professor, CSE</a:t>
            </a:r>
            <a:endParaRPr lang="en-GB" sz="2000" dirty="0">
              <a:solidFill>
                <a:schemeClr val="tx1"/>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2" y="319093"/>
            <a:ext cx="8496301" cy="2043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fontScale="92500" lnSpcReduction="20000"/>
          </a:bodyPr>
          <a:lstStyle/>
          <a:p>
            <a:r>
              <a:rPr lang="en-US" dirty="0"/>
              <a:t>Certificate</a:t>
            </a:r>
          </a:p>
          <a:p>
            <a:r>
              <a:rPr lang="en-US" dirty="0"/>
              <a:t>Abstract</a:t>
            </a:r>
          </a:p>
          <a:p>
            <a:r>
              <a:rPr lang="en-US" dirty="0"/>
              <a:t>Introduction</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21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ABSTRACT</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3</a:t>
            </a:fld>
            <a:endParaRPr lang="en-US" dirty="0"/>
          </a:p>
        </p:txBody>
      </p:sp>
      <p:sp>
        <p:nvSpPr>
          <p:cNvPr id="4" name="Content Placeholder 3"/>
          <p:cNvSpPr>
            <a:spLocks noGrp="1"/>
          </p:cNvSpPr>
          <p:nvPr>
            <p:ph idx="1"/>
          </p:nvPr>
        </p:nvSpPr>
        <p:spPr>
          <a:xfrm>
            <a:off x="457200" y="1600200"/>
            <a:ext cx="8229600" cy="4343399"/>
          </a:xfrm>
        </p:spPr>
        <p:txBody>
          <a:bodyPr>
            <a:normAutofit/>
          </a:bodyPr>
          <a:lstStyle/>
          <a:p>
            <a:pPr marL="0" indent="0" algn="just">
              <a:buNone/>
            </a:pPr>
            <a:r>
              <a:rPr lang="en-IN" sz="2000" dirty="0"/>
              <a:t>The Donation &amp; Campaign Tracker is a cloud-based web application designed to help non-profit organizations manage fundraising campaigns, donor information, and donation records efficiently. The system enables administrators to create campaigns, record contributions, monitor fundraising progress, and maintain donor records through a centralized platform.</a:t>
            </a:r>
          </a:p>
          <a:p>
            <a:pPr marL="0" indent="0" algn="just">
              <a:buNone/>
            </a:pPr>
            <a:r>
              <a:rPr lang="en-IN" sz="2000" dirty="0"/>
              <a:t>The application uses </a:t>
            </a:r>
            <a:r>
              <a:rPr lang="en-IN" sz="2000" b="1" dirty="0"/>
              <a:t>Django and Python</a:t>
            </a:r>
            <a:r>
              <a:rPr lang="en-IN" sz="2000" dirty="0"/>
              <a:t> for the backend, </a:t>
            </a:r>
            <a:r>
              <a:rPr lang="en-IN" sz="2000" b="1" dirty="0"/>
              <a:t>Amazon RDS</a:t>
            </a:r>
            <a:r>
              <a:rPr lang="en-IN" sz="2000" dirty="0"/>
              <a:t> for database management, </a:t>
            </a:r>
            <a:r>
              <a:rPr lang="en-IN" sz="2000" b="1" dirty="0"/>
              <a:t>Amazon S3</a:t>
            </a:r>
            <a:r>
              <a:rPr lang="en-IN" sz="2000" dirty="0"/>
              <a:t> for document storage, and </a:t>
            </a:r>
            <a:r>
              <a:rPr lang="en-IN" sz="2000" b="1" dirty="0"/>
              <a:t>Amazon SNS</a:t>
            </a:r>
            <a:r>
              <a:rPr lang="en-IN" sz="2000" dirty="0"/>
              <a:t> for notifications. The application is deployed using </a:t>
            </a:r>
            <a:r>
              <a:rPr lang="en-IN" sz="2000" b="1" dirty="0"/>
              <a:t>Amazon EC2</a:t>
            </a:r>
            <a:r>
              <a:rPr lang="en-IN" sz="2000" dirty="0"/>
              <a:t>. A dashboard provides campaign-wise progress and donation statistics, helping organizations monitor their fundraising activities effectively.</a:t>
            </a:r>
          </a:p>
        </p:txBody>
      </p:sp>
    </p:spTree>
    <p:extLst>
      <p:ext uri="{BB962C8B-B14F-4D97-AF65-F5344CB8AC3E}">
        <p14:creationId xmlns:p14="http://schemas.microsoft.com/office/powerpoint/2010/main" val="427035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E59FB-8791-299B-29F8-57D442446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C2911-92E3-EAA8-C6FD-190EAB026612}"/>
              </a:ext>
            </a:extLst>
          </p:cNvPr>
          <p:cNvSpPr>
            <a:spLocks noGrp="1"/>
          </p:cNvSpPr>
          <p:nvPr>
            <p:ph type="title"/>
          </p:nvPr>
        </p:nvSpPr>
        <p:spPr/>
        <p:txBody>
          <a:bodyPr>
            <a:normAutofit/>
          </a:bodyPr>
          <a:lstStyle/>
          <a:p>
            <a:r>
              <a:rPr lang="en-US" sz="3600" dirty="0"/>
              <a:t>INTRODUCTION</a:t>
            </a:r>
          </a:p>
        </p:txBody>
      </p:sp>
      <p:sp>
        <p:nvSpPr>
          <p:cNvPr id="5" name="Footer Placeholder 4">
            <a:extLst>
              <a:ext uri="{FF2B5EF4-FFF2-40B4-BE49-F238E27FC236}">
                <a16:creationId xmlns:a16="http://schemas.microsoft.com/office/drawing/2014/main" id="{E544F7E2-5BA6-CFF8-8696-B439176F8AB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9281997-6E90-00B1-6FCC-90449DC25AFA}"/>
              </a:ext>
            </a:extLst>
          </p:cNvPr>
          <p:cNvSpPr>
            <a:spLocks noGrp="1"/>
          </p:cNvSpPr>
          <p:nvPr>
            <p:ph type="sldNum" sz="quarter" idx="12"/>
          </p:nvPr>
        </p:nvSpPr>
        <p:spPr/>
        <p:txBody>
          <a:bodyPr/>
          <a:lstStyle/>
          <a:p>
            <a:fld id="{7B28076C-CE04-4A00-BFAA-A90EA8355859}" type="slidenum">
              <a:rPr lang="en-US" smtClean="0"/>
              <a:pPr/>
              <a:t>4</a:t>
            </a:fld>
            <a:endParaRPr lang="en-US" dirty="0"/>
          </a:p>
        </p:txBody>
      </p:sp>
      <p:sp>
        <p:nvSpPr>
          <p:cNvPr id="4" name="Content Placeholder 3">
            <a:extLst>
              <a:ext uri="{FF2B5EF4-FFF2-40B4-BE49-F238E27FC236}">
                <a16:creationId xmlns:a16="http://schemas.microsoft.com/office/drawing/2014/main" id="{5BED75B6-DA62-1A15-A821-6CA58162E63F}"/>
              </a:ext>
            </a:extLst>
          </p:cNvPr>
          <p:cNvSpPr>
            <a:spLocks noGrp="1"/>
          </p:cNvSpPr>
          <p:nvPr>
            <p:ph idx="1"/>
          </p:nvPr>
        </p:nvSpPr>
        <p:spPr/>
        <p:txBody>
          <a:bodyPr>
            <a:normAutofit/>
          </a:bodyPr>
          <a:lstStyle/>
          <a:p>
            <a:pPr lvl="0"/>
            <a:r>
              <a:rPr lang="en-IN" sz="1800" dirty="0"/>
              <a:t>NGOs and organizations often manage donations using spreadsheets or manual records. </a:t>
            </a:r>
          </a:p>
          <a:p>
            <a:pPr lvl="0"/>
            <a:r>
              <a:rPr lang="en-IN" sz="1800" dirty="0"/>
              <a:t>Managing multiple campaigns and donors can become difficult. </a:t>
            </a:r>
          </a:p>
          <a:p>
            <a:pPr lvl="0"/>
            <a:r>
              <a:rPr lang="en-IN" sz="1800" dirty="0"/>
              <a:t>Tracking campaign targets and actual contributions requires centralized data. </a:t>
            </a:r>
          </a:p>
          <a:p>
            <a:pPr lvl="0"/>
            <a:r>
              <a:rPr lang="en-IN" sz="1800" dirty="0"/>
              <a:t>The proposed system provides a single platform for managing campaigns and donations. </a:t>
            </a:r>
          </a:p>
          <a:p>
            <a:pPr lvl="0"/>
            <a:r>
              <a:rPr lang="en-IN" sz="1800" dirty="0"/>
              <a:t>AWS cloud services provide storage, database management, deployment, and notifications.</a:t>
            </a:r>
          </a:p>
          <a:p>
            <a:endParaRPr lang="en-US" dirty="0"/>
          </a:p>
        </p:txBody>
      </p:sp>
    </p:spTree>
    <p:extLst>
      <p:ext uri="{BB962C8B-B14F-4D97-AF65-F5344CB8AC3E}">
        <p14:creationId xmlns:p14="http://schemas.microsoft.com/office/powerpoint/2010/main" val="1478303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072F7-EB26-DD03-41C7-2C859BAC00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9A92B-9291-AAD2-9FBC-1639FB3BAFF1}"/>
              </a:ext>
            </a:extLst>
          </p:cNvPr>
          <p:cNvSpPr>
            <a:spLocks noGrp="1"/>
          </p:cNvSpPr>
          <p:nvPr>
            <p:ph type="title"/>
          </p:nvPr>
        </p:nvSpPr>
        <p:spPr/>
        <p:txBody>
          <a:bodyPr>
            <a:normAutofit/>
          </a:bodyPr>
          <a:lstStyle/>
          <a:p>
            <a:r>
              <a:rPr lang="en-US" sz="3600" dirty="0"/>
              <a:t>OBJECTIVES</a:t>
            </a:r>
          </a:p>
        </p:txBody>
      </p:sp>
      <p:sp>
        <p:nvSpPr>
          <p:cNvPr id="5" name="Footer Placeholder 4">
            <a:extLst>
              <a:ext uri="{FF2B5EF4-FFF2-40B4-BE49-F238E27FC236}">
                <a16:creationId xmlns:a16="http://schemas.microsoft.com/office/drawing/2014/main" id="{7112DF35-63B8-97C7-6F7D-71F1403A39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5B22062-CD3E-6680-0B77-0A125F12A423}"/>
              </a:ext>
            </a:extLst>
          </p:cNvPr>
          <p:cNvSpPr>
            <a:spLocks noGrp="1"/>
          </p:cNvSpPr>
          <p:nvPr>
            <p:ph type="sldNum" sz="quarter" idx="12"/>
          </p:nvPr>
        </p:nvSpPr>
        <p:spPr/>
        <p:txBody>
          <a:bodyPr/>
          <a:lstStyle/>
          <a:p>
            <a:fld id="{7B28076C-CE04-4A00-BFAA-A90EA8355859}" type="slidenum">
              <a:rPr lang="en-US" smtClean="0"/>
              <a:pPr/>
              <a:t>5</a:t>
            </a:fld>
            <a:endParaRPr lang="en-US" dirty="0"/>
          </a:p>
        </p:txBody>
      </p:sp>
      <p:sp>
        <p:nvSpPr>
          <p:cNvPr id="4" name="Content Placeholder 3">
            <a:extLst>
              <a:ext uri="{FF2B5EF4-FFF2-40B4-BE49-F238E27FC236}">
                <a16:creationId xmlns:a16="http://schemas.microsoft.com/office/drawing/2014/main" id="{FF36D604-CC2C-486D-A9DD-D20ACABFBB88}"/>
              </a:ext>
            </a:extLst>
          </p:cNvPr>
          <p:cNvSpPr>
            <a:spLocks noGrp="1"/>
          </p:cNvSpPr>
          <p:nvPr>
            <p:ph idx="1"/>
          </p:nvPr>
        </p:nvSpPr>
        <p:spPr/>
        <p:txBody>
          <a:bodyPr>
            <a:normAutofit/>
          </a:bodyPr>
          <a:lstStyle/>
          <a:p>
            <a:pPr lvl="0"/>
            <a:r>
              <a:rPr lang="en-IN" sz="2400" dirty="0"/>
              <a:t>To develop a centralized donation and campaign management system. </a:t>
            </a:r>
          </a:p>
          <a:p>
            <a:pPr lvl="0"/>
            <a:r>
              <a:rPr lang="en-IN" sz="2400" dirty="0"/>
              <a:t>To maintain donor and donation records efficiently. </a:t>
            </a:r>
          </a:p>
          <a:p>
            <a:pPr lvl="0"/>
            <a:r>
              <a:rPr lang="en-IN" sz="2400" dirty="0"/>
              <a:t>To create and monitor fundraising campaigns. </a:t>
            </a:r>
          </a:p>
          <a:p>
            <a:pPr lvl="0"/>
            <a:r>
              <a:rPr lang="en-IN" sz="2400" dirty="0"/>
              <a:t>To track campaign targets and achieved amounts. </a:t>
            </a:r>
          </a:p>
          <a:p>
            <a:pPr lvl="0"/>
            <a:r>
              <a:rPr lang="en-IN" sz="2400" dirty="0"/>
              <a:t>To securely store campaign-related documents. </a:t>
            </a:r>
          </a:p>
          <a:p>
            <a:pPr lvl="0"/>
            <a:r>
              <a:rPr lang="en-IN" sz="2400" dirty="0"/>
              <a:t>To provide automated notifications and summaries. </a:t>
            </a:r>
          </a:p>
          <a:p>
            <a:pPr lvl="0"/>
            <a:r>
              <a:rPr lang="en-IN" sz="2400" dirty="0"/>
              <a:t>To deploy the application using AWS cloud services.</a:t>
            </a:r>
          </a:p>
          <a:p>
            <a:endParaRPr lang="en-US" dirty="0"/>
          </a:p>
        </p:txBody>
      </p:sp>
    </p:spTree>
    <p:extLst>
      <p:ext uri="{BB962C8B-B14F-4D97-AF65-F5344CB8AC3E}">
        <p14:creationId xmlns:p14="http://schemas.microsoft.com/office/powerpoint/2010/main" val="2110833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72B03-ACDA-690A-7DF6-C0995140F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08FF7-BF5F-3ACC-224B-0CCD7D822B68}"/>
              </a:ext>
            </a:extLst>
          </p:cNvPr>
          <p:cNvSpPr>
            <a:spLocks noGrp="1"/>
          </p:cNvSpPr>
          <p:nvPr>
            <p:ph type="title"/>
          </p:nvPr>
        </p:nvSpPr>
        <p:spPr/>
        <p:txBody>
          <a:bodyPr>
            <a:normAutofit/>
          </a:bodyPr>
          <a:lstStyle/>
          <a:p>
            <a:r>
              <a:rPr lang="en-IN" sz="3600" dirty="0"/>
              <a:t>System Architecture / Ideation Map</a:t>
            </a:r>
            <a:endParaRPr lang="en-US" sz="3600" dirty="0"/>
          </a:p>
        </p:txBody>
      </p:sp>
      <p:sp>
        <p:nvSpPr>
          <p:cNvPr id="5" name="Footer Placeholder 4">
            <a:extLst>
              <a:ext uri="{FF2B5EF4-FFF2-40B4-BE49-F238E27FC236}">
                <a16:creationId xmlns:a16="http://schemas.microsoft.com/office/drawing/2014/main" id="{697A9C7F-0D64-69D0-B5B6-E8F0431BD8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70D7A5E-FEB0-07D1-C624-3EAB6DDB7E54}"/>
              </a:ext>
            </a:extLst>
          </p:cNvPr>
          <p:cNvSpPr>
            <a:spLocks noGrp="1"/>
          </p:cNvSpPr>
          <p:nvPr>
            <p:ph type="sldNum" sz="quarter" idx="12"/>
          </p:nvPr>
        </p:nvSpPr>
        <p:spPr/>
        <p:txBody>
          <a:bodyPr/>
          <a:lstStyle/>
          <a:p>
            <a:fld id="{7B28076C-CE04-4A00-BFAA-A90EA8355859}" type="slidenum">
              <a:rPr lang="en-US" smtClean="0"/>
              <a:pPr/>
              <a:t>6</a:t>
            </a:fld>
            <a:endParaRPr lang="en-US" dirty="0"/>
          </a:p>
        </p:txBody>
      </p:sp>
      <p:pic>
        <p:nvPicPr>
          <p:cNvPr id="7" name="Content Placeholder 6">
            <a:extLst>
              <a:ext uri="{FF2B5EF4-FFF2-40B4-BE49-F238E27FC236}">
                <a16:creationId xmlns:a16="http://schemas.microsoft.com/office/drawing/2014/main" id="{E8D2DE90-A2E2-3543-E62A-120760FEA3E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8418"/>
          <a:stretch>
            <a:fillRect/>
          </a:stretch>
        </p:blipFill>
        <p:spPr>
          <a:xfrm>
            <a:off x="381000" y="1401097"/>
            <a:ext cx="8524015" cy="4800600"/>
          </a:xfrm>
          <a:prstGeom prst="rect">
            <a:avLst/>
          </a:prstGeom>
        </p:spPr>
      </p:pic>
    </p:spTree>
    <p:extLst>
      <p:ext uri="{BB962C8B-B14F-4D97-AF65-F5344CB8AC3E}">
        <p14:creationId xmlns:p14="http://schemas.microsoft.com/office/powerpoint/2010/main" val="3366410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FEBBD-288C-63A1-D647-0DED2CBDA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D044B-EB7F-F6FC-46BC-1206EA548F18}"/>
              </a:ext>
            </a:extLst>
          </p:cNvPr>
          <p:cNvSpPr>
            <a:spLocks noGrp="1"/>
          </p:cNvSpPr>
          <p:nvPr>
            <p:ph type="title"/>
          </p:nvPr>
        </p:nvSpPr>
        <p:spPr/>
        <p:txBody>
          <a:bodyPr>
            <a:normAutofit/>
          </a:bodyPr>
          <a:lstStyle/>
          <a:p>
            <a:r>
              <a:rPr lang="en-US" sz="3600" dirty="0"/>
              <a:t>Module Implementation</a:t>
            </a:r>
          </a:p>
        </p:txBody>
      </p:sp>
      <p:sp>
        <p:nvSpPr>
          <p:cNvPr id="5" name="Footer Placeholder 4">
            <a:extLst>
              <a:ext uri="{FF2B5EF4-FFF2-40B4-BE49-F238E27FC236}">
                <a16:creationId xmlns:a16="http://schemas.microsoft.com/office/drawing/2014/main" id="{61786C71-46F2-282D-0563-295556F70DA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0B1B33A-70B0-85A7-EC55-7EFF631B8A89}"/>
              </a:ext>
            </a:extLst>
          </p:cNvPr>
          <p:cNvSpPr>
            <a:spLocks noGrp="1"/>
          </p:cNvSpPr>
          <p:nvPr>
            <p:ph type="sldNum" sz="quarter" idx="12"/>
          </p:nvPr>
        </p:nvSpPr>
        <p:spPr/>
        <p:txBody>
          <a:bodyPr/>
          <a:lstStyle/>
          <a:p>
            <a:fld id="{7B28076C-CE04-4A00-BFAA-A90EA8355859}" type="slidenum">
              <a:rPr lang="en-US" smtClean="0"/>
              <a:pPr/>
              <a:t>7</a:t>
            </a:fld>
            <a:endParaRPr lang="en-US" dirty="0"/>
          </a:p>
        </p:txBody>
      </p:sp>
      <p:sp>
        <p:nvSpPr>
          <p:cNvPr id="4" name="Content Placeholder 3">
            <a:extLst>
              <a:ext uri="{FF2B5EF4-FFF2-40B4-BE49-F238E27FC236}">
                <a16:creationId xmlns:a16="http://schemas.microsoft.com/office/drawing/2014/main" id="{F6DDF6EB-92BA-A78E-20FB-5A7AB87D6DB8}"/>
              </a:ext>
            </a:extLst>
          </p:cNvPr>
          <p:cNvSpPr>
            <a:spLocks noGrp="1"/>
          </p:cNvSpPr>
          <p:nvPr>
            <p:ph idx="1"/>
          </p:nvPr>
        </p:nvSpPr>
        <p:spPr/>
        <p:txBody>
          <a:bodyPr>
            <a:normAutofit/>
          </a:bodyPr>
          <a:lstStyle/>
          <a:p>
            <a:r>
              <a:rPr lang="en-IN" dirty="0"/>
              <a:t>Module 1: User &amp; Admin Management</a:t>
            </a:r>
          </a:p>
          <a:p>
            <a:r>
              <a:rPr lang="en-IN" dirty="0"/>
              <a:t>Module 2: Campaign Management</a:t>
            </a:r>
          </a:p>
          <a:p>
            <a:r>
              <a:rPr lang="en-IN" dirty="0"/>
              <a:t>Module 3: Donation Management</a:t>
            </a:r>
          </a:p>
          <a:p>
            <a:r>
              <a:rPr lang="en-IN" dirty="0"/>
              <a:t>Module 4: Dashboard &amp; Reports</a:t>
            </a:r>
          </a:p>
          <a:p>
            <a:r>
              <a:rPr lang="en-IN" dirty="0"/>
              <a:t>Module 5: AWS Integration</a:t>
            </a:r>
          </a:p>
          <a:p>
            <a:pPr lvl="1"/>
            <a:r>
              <a:rPr lang="en-US" sz="2000" dirty="0"/>
              <a:t>EC2 Deployment</a:t>
            </a:r>
          </a:p>
          <a:p>
            <a:pPr lvl="1"/>
            <a:r>
              <a:rPr lang="en-US" sz="2000" dirty="0"/>
              <a:t>RDS DB</a:t>
            </a:r>
          </a:p>
          <a:p>
            <a:pPr lvl="1"/>
            <a:r>
              <a:rPr lang="en-US" sz="2000" dirty="0"/>
              <a:t>S3 Storage</a:t>
            </a:r>
          </a:p>
          <a:p>
            <a:pPr lvl="1"/>
            <a:r>
              <a:rPr lang="en-US" sz="2000" dirty="0"/>
              <a:t>SNS Notification</a:t>
            </a:r>
          </a:p>
        </p:txBody>
      </p:sp>
    </p:spTree>
    <p:extLst>
      <p:ext uri="{BB962C8B-B14F-4D97-AF65-F5344CB8AC3E}">
        <p14:creationId xmlns:p14="http://schemas.microsoft.com/office/powerpoint/2010/main" val="2380494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5831B-7C39-9536-E6FE-C55C677B2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FEEBF4-51BC-7685-323C-02CA07F8196B}"/>
              </a:ext>
            </a:extLst>
          </p:cNvPr>
          <p:cNvSpPr>
            <a:spLocks noGrp="1"/>
          </p:cNvSpPr>
          <p:nvPr>
            <p:ph type="title"/>
          </p:nvPr>
        </p:nvSpPr>
        <p:spPr/>
        <p:txBody>
          <a:bodyPr>
            <a:normAutofit/>
          </a:bodyPr>
          <a:lstStyle/>
          <a:p>
            <a:r>
              <a:rPr lang="en-US" sz="3600" dirty="0"/>
              <a:t>RESULTS and DISCUSSION</a:t>
            </a:r>
          </a:p>
        </p:txBody>
      </p:sp>
      <p:sp>
        <p:nvSpPr>
          <p:cNvPr id="5" name="Footer Placeholder 4">
            <a:extLst>
              <a:ext uri="{FF2B5EF4-FFF2-40B4-BE49-F238E27FC236}">
                <a16:creationId xmlns:a16="http://schemas.microsoft.com/office/drawing/2014/main" id="{4E1893EC-F04D-17AA-7B64-CFDBCFAB33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20DD1F5-045E-58BD-74DA-4EF7033D4B44}"/>
              </a:ext>
            </a:extLst>
          </p:cNvPr>
          <p:cNvSpPr>
            <a:spLocks noGrp="1"/>
          </p:cNvSpPr>
          <p:nvPr>
            <p:ph type="sldNum" sz="quarter" idx="12"/>
          </p:nvPr>
        </p:nvSpPr>
        <p:spPr/>
        <p:txBody>
          <a:bodyPr/>
          <a:lstStyle/>
          <a:p>
            <a:fld id="{7B28076C-CE04-4A00-BFAA-A90EA8355859}" type="slidenum">
              <a:rPr lang="en-US" smtClean="0"/>
              <a:pPr/>
              <a:t>8</a:t>
            </a:fld>
            <a:endParaRPr lang="en-US" dirty="0"/>
          </a:p>
        </p:txBody>
      </p:sp>
      <p:sp>
        <p:nvSpPr>
          <p:cNvPr id="4" name="Content Placeholder 3">
            <a:extLst>
              <a:ext uri="{FF2B5EF4-FFF2-40B4-BE49-F238E27FC236}">
                <a16:creationId xmlns:a16="http://schemas.microsoft.com/office/drawing/2014/main" id="{FDAA9EE1-7215-ACEC-061C-DB6F7023B9F5}"/>
              </a:ext>
            </a:extLst>
          </p:cNvPr>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1864857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32568-0163-EF49-9FCD-D755F6298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BEA61-6F60-9EE4-171F-EBA324869DC6}"/>
              </a:ext>
            </a:extLst>
          </p:cNvPr>
          <p:cNvSpPr>
            <a:spLocks noGrp="1"/>
          </p:cNvSpPr>
          <p:nvPr>
            <p:ph type="title"/>
          </p:nvPr>
        </p:nvSpPr>
        <p:spPr/>
        <p:txBody>
          <a:bodyPr>
            <a:normAutofit/>
          </a:bodyPr>
          <a:lstStyle/>
          <a:p>
            <a:r>
              <a:rPr lang="en-US" sz="3600" dirty="0"/>
              <a:t>CONCLUSION</a:t>
            </a:r>
          </a:p>
        </p:txBody>
      </p:sp>
      <p:sp>
        <p:nvSpPr>
          <p:cNvPr id="5" name="Footer Placeholder 4">
            <a:extLst>
              <a:ext uri="{FF2B5EF4-FFF2-40B4-BE49-F238E27FC236}">
                <a16:creationId xmlns:a16="http://schemas.microsoft.com/office/drawing/2014/main" id="{DA938851-8B7C-3113-9EE8-56E30B6B85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161575-E1D2-D107-27C3-2B3FD2C11EBE}"/>
              </a:ext>
            </a:extLst>
          </p:cNvPr>
          <p:cNvSpPr>
            <a:spLocks noGrp="1"/>
          </p:cNvSpPr>
          <p:nvPr>
            <p:ph type="sldNum" sz="quarter" idx="12"/>
          </p:nvPr>
        </p:nvSpPr>
        <p:spPr/>
        <p:txBody>
          <a:bodyPr/>
          <a:lstStyle/>
          <a:p>
            <a:fld id="{7B28076C-CE04-4A00-BFAA-A90EA8355859}" type="slidenum">
              <a:rPr lang="en-US" smtClean="0"/>
              <a:pPr/>
              <a:t>9</a:t>
            </a:fld>
            <a:endParaRPr lang="en-US" dirty="0"/>
          </a:p>
        </p:txBody>
      </p:sp>
      <p:sp>
        <p:nvSpPr>
          <p:cNvPr id="4" name="Content Placeholder 3">
            <a:extLst>
              <a:ext uri="{FF2B5EF4-FFF2-40B4-BE49-F238E27FC236}">
                <a16:creationId xmlns:a16="http://schemas.microsoft.com/office/drawing/2014/main" id="{683409F2-B350-C3F0-0409-A0FA300C2E99}"/>
              </a:ext>
            </a:extLst>
          </p:cNvPr>
          <p:cNvSpPr>
            <a:spLocks noGrp="1"/>
          </p:cNvSpPr>
          <p:nvPr>
            <p:ph idx="1"/>
          </p:nvPr>
        </p:nvSpPr>
        <p:spPr>
          <a:xfrm>
            <a:off x="457200" y="1600201"/>
            <a:ext cx="8229600" cy="3886200"/>
          </a:xfrm>
        </p:spPr>
        <p:txBody>
          <a:bodyPr>
            <a:normAutofit/>
          </a:bodyPr>
          <a:lstStyle/>
          <a:p>
            <a:pPr marL="0" lvl="0" indent="0">
              <a:buNone/>
            </a:pPr>
            <a:r>
              <a:rPr lang="en-IN" sz="2400" dirty="0"/>
              <a:t>The Donation &amp; Campaign Tracker can provide a centralized and efficient platform for managing fundraising campaigns, donor information, and donation records. The integration of AWS services such as EC2, RDS, S3, and SNS demonstrates the practical application of cloud computing in non-profit management. The system improves data organization, campaign monitoring, and communication while providing a foundation for future enhancements such as online payment integration and advanced analytics.</a:t>
            </a:r>
            <a:endParaRPr lang="en-US" dirty="0"/>
          </a:p>
        </p:txBody>
      </p:sp>
    </p:spTree>
    <p:extLst>
      <p:ext uri="{BB962C8B-B14F-4D97-AF65-F5344CB8AC3E}">
        <p14:creationId xmlns:p14="http://schemas.microsoft.com/office/powerpoint/2010/main" val="751711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A3D9-5B38-A267-7691-582DAE68AEB0}"/>
              </a:ext>
            </a:extLst>
          </p:cNvPr>
          <p:cNvSpPr>
            <a:spLocks noGrp="1"/>
          </p:cNvSpPr>
          <p:nvPr>
            <p:ph type="title"/>
          </p:nvPr>
        </p:nvSpPr>
        <p:spPr/>
        <p:txBody>
          <a:bodyPr>
            <a:normAutofit/>
          </a:bodyPr>
          <a:lstStyle/>
          <a:p>
            <a:r>
              <a:rPr lang="en-IN" sz="3600" dirty="0"/>
              <a:t>REFERENCES</a:t>
            </a:r>
          </a:p>
        </p:txBody>
      </p:sp>
      <p:sp>
        <p:nvSpPr>
          <p:cNvPr id="3" name="Content Placeholder 2">
            <a:extLst>
              <a:ext uri="{FF2B5EF4-FFF2-40B4-BE49-F238E27FC236}">
                <a16:creationId xmlns:a16="http://schemas.microsoft.com/office/drawing/2014/main" id="{9BC309EE-F211-8F10-9087-6FE7260000F2}"/>
              </a:ext>
            </a:extLst>
          </p:cNvPr>
          <p:cNvSpPr>
            <a:spLocks noGrp="1"/>
          </p:cNvSpPr>
          <p:nvPr>
            <p:ph idx="1"/>
          </p:nvPr>
        </p:nvSpPr>
        <p:spPr>
          <a:xfrm>
            <a:off x="457200" y="1371600"/>
            <a:ext cx="8229600" cy="2209800"/>
          </a:xfrm>
        </p:spPr>
        <p:txBody>
          <a:bodyPr>
            <a:noAutofit/>
          </a:bodyPr>
          <a:lstStyle/>
          <a:p>
            <a:pPr marL="0" lvl="0" indent="0">
              <a:buNone/>
            </a:pPr>
            <a:r>
              <a:rPr lang="en-IN" sz="2000" dirty="0"/>
              <a:t>[1]. AWS documentation </a:t>
            </a:r>
          </a:p>
          <a:p>
            <a:pPr marL="0" lvl="0" indent="0">
              <a:buNone/>
            </a:pPr>
            <a:r>
              <a:rPr lang="en-IN" sz="2000" dirty="0"/>
              <a:t>[2]. Django documentation </a:t>
            </a:r>
          </a:p>
          <a:p>
            <a:pPr marL="0" lvl="0" indent="0">
              <a:buNone/>
            </a:pPr>
            <a:r>
              <a:rPr lang="en-IN" sz="2000" dirty="0"/>
              <a:t>[3]. Python documentation </a:t>
            </a:r>
          </a:p>
          <a:p>
            <a:pPr marL="0" lvl="0" indent="0">
              <a:buNone/>
            </a:pPr>
            <a:r>
              <a:rPr lang="en-IN" sz="2000" dirty="0"/>
              <a:t>[4]. MySQL/PostgreSQL documentation</a:t>
            </a:r>
          </a:p>
        </p:txBody>
      </p:sp>
      <p:sp>
        <p:nvSpPr>
          <p:cNvPr id="4" name="Date Placeholder 3">
            <a:extLst>
              <a:ext uri="{FF2B5EF4-FFF2-40B4-BE49-F238E27FC236}">
                <a16:creationId xmlns:a16="http://schemas.microsoft.com/office/drawing/2014/main" id="{2B427FE9-29DA-0E49-B4DE-4727923C5DB0}"/>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B2B0431B-9CC5-946D-2E4D-E25A5A48B915}"/>
              </a:ext>
            </a:extLst>
          </p:cNvPr>
          <p:cNvSpPr>
            <a:spLocks noGrp="1"/>
          </p:cNvSpPr>
          <p:nvPr>
            <p:ph type="sldNum" sz="quarter" idx="12"/>
          </p:nvPr>
        </p:nvSpPr>
        <p:spPr/>
        <p:txBody>
          <a:bodyPr/>
          <a:lstStyle/>
          <a:p>
            <a:fld id="{7B28076C-CE04-4A00-BFAA-A90EA8355859}" type="slidenum">
              <a:rPr lang="en-US" smtClean="0"/>
              <a:pPr/>
              <a:t>10</a:t>
            </a:fld>
            <a:endParaRPr lang="en-US"/>
          </a:p>
        </p:txBody>
      </p:sp>
    </p:spTree>
    <p:extLst>
      <p:ext uri="{BB962C8B-B14F-4D97-AF65-F5344CB8AC3E}">
        <p14:creationId xmlns:p14="http://schemas.microsoft.com/office/powerpoint/2010/main" val="3811643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21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11</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I thank God, Our Department, Guide, Panel Members, Supportive Professors and her who helped me supporting in my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6430</TotalTime>
  <Words>498</Words>
  <Application>Microsoft Office PowerPoint</Application>
  <PresentationFormat>On-screen Show (4:3)</PresentationFormat>
  <Paragraphs>77</Paragraphs>
  <Slides>11</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Custom Design</vt:lpstr>
      <vt:lpstr>  </vt:lpstr>
      <vt:lpstr>AGENDA</vt:lpstr>
      <vt:lpstr>ABSTRACT</vt:lpstr>
      <vt:lpstr>INTRODUCTION</vt:lpstr>
      <vt:lpstr>OBJECTIVES</vt:lpstr>
      <vt:lpstr>System Architecture / Ideation Map</vt:lpstr>
      <vt:lpstr>Module Implementation</vt:lpstr>
      <vt:lpstr>RESULTS and DISCUSSION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Pranab Santra</cp:lastModifiedBy>
  <cp:revision>121</cp:revision>
  <dcterms:created xsi:type="dcterms:W3CDTF">2019-11-06T07:48:53Z</dcterms:created>
  <dcterms:modified xsi:type="dcterms:W3CDTF">2026-09-21T16:41:14Z</dcterms:modified>
</cp:coreProperties>
</file>